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organizations</c:v>
                </c:pt>
              </c:strCache>
            </c:strRef>
          </c:tx>
          <c:spPr>
            <a:solidFill>
              <a:srgbClr val="355C7D"/>
            </a:solidFill>
          </c:spPr>
          <c:cat>
            <c:strRef>
              <c:f>Sheet1!$A$2:$A$3</c:f>
              <c:strCache>
                <c:ptCount val="2"/>
                <c:pt idx="0">
                  <c:v>Productivity/Efficiency Gains</c:v>
                </c:pt>
                <c:pt idx="1">
                  <c:v>Revenue Gains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20</c:v>
                </c:pt>
              </c:numCache>
            </c:numRef>
          </c:val>
        </c:ser>
        <c:dLbls>
          <c:numFmt formatCode="0&quot;&quot;" sourceLinked="0"/>
          <c:txPr>
            <a:bodyPr/>
            <a:lstStyle/>
            <a:p>
              <a:pPr>
                <a:defRPr sz="1200" b="1">
                  <a:solidFill>
                    <a:srgbClr val="1F27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1100">
                <a:solidFill>
                  <a:srgbClr val="3F465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1000">
                <a:solidFill>
                  <a:srgbClr val="8C949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Billion USD</c:v>
                </c:pt>
              </c:strCache>
            </c:strRef>
          </c:tx>
          <c:spPr>
            <a:solidFill>
              <a:srgbClr val="355C7D"/>
            </a:solidFill>
          </c:spPr>
          <c:cat>
            <c:strRef>
              <c:f>Sheet1!$A$2:$A$3</c:f>
              <c:strCache>
                <c:ptCount val="2"/>
                <c:pt idx="0">
                  <c:v>GenAI Enterprise Spending 2025</c:v>
                </c:pt>
                <c:pt idx="1">
                  <c:v>Global AI Investment 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581.7</c:v>
                </c:pt>
              </c:numCache>
            </c:numRef>
          </c:val>
        </c:ser>
        <c:dLbls>
          <c:numFmt formatCode="0&quot;&quot;" sourceLinked="0"/>
          <c:txPr>
            <a:bodyPr/>
            <a:lstStyle/>
            <a:p>
              <a:pPr>
                <a:defRPr sz="1200" b="1">
                  <a:solidFill>
                    <a:srgbClr val="1F27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1100">
                <a:solidFill>
                  <a:srgbClr val="3F465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1000">
                <a:solidFill>
                  <a:srgbClr val="8C949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spc="200">
                <a:solidFill>
                  <a:srgbClr val="355C7D"/>
                </a:solidFill>
                <a:latin typeface="Calibri"/>
              </a:rPr>
              <a:t>RESEARCH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F2733"/>
                </a:solidFill>
                <a:latin typeface="Calibri"/>
              </a:rPr>
              <a:t>Generative AI Impact on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3F4652"/>
                </a:solidFill>
                <a:latin typeface="Calibri"/>
              </a:rPr>
              <a:t>How generative AI is transforming business and the workplace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267712"/>
            <a:ext cx="1005840" cy="0"/>
          </a:xfrm>
          <a:prstGeom prst="line">
            <a:avLst/>
          </a:prstGeom>
          <a:ln w="31750">
            <a:solidFill>
              <a:srgbClr val="35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8C949E"/>
                </a:solidFill>
                <a:latin typeface="Calibri"/>
              </a:rPr>
              <a:t>Compiled from public research and industry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spc="150">
                <a:solidFill>
                  <a:srgbClr val="355C7D"/>
                </a:solidFill>
                <a:latin typeface="Calibri"/>
              </a:rPr>
              <a:t>GENERATIVE AI ·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3"/>
                </a:solidFill>
                <a:latin typeface="Calibri"/>
              </a:rPr>
              <a:t>What Is Generative AI?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28575">
            <a:solidFill>
              <a:srgbClr val="35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96596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Creates text, images, videos, code, and more using AI models.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Differs from traditional models that analyze existing data.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Increases employee productivity and speed.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949E"/>
                </a:solidFill>
                <a:latin typeface="Calibri"/>
              </a:rPr>
              <a:t>Source: charterglobal.com, coursera.org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C949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spc="150">
                <a:solidFill>
                  <a:srgbClr val="355C7D"/>
                </a:solidFill>
                <a:latin typeface="Calibri"/>
              </a:rPr>
              <a:t>GENERATIVE AI ·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3"/>
                </a:solidFill>
                <a:latin typeface="Calibri"/>
              </a:rPr>
              <a:t>Adoption and Market Scale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28575">
            <a:solidFill>
              <a:srgbClr val="35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96596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Reached 53% global population adoption within three years.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Private investment grew more than 200% in 2025.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Enterprise spending accelerated significantly.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949E"/>
                </a:solidFill>
                <a:latin typeface="Calibri"/>
              </a:rPr>
              <a:t>Source: amplifai.com, axis-intelligence.com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C949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spc="150">
                <a:solidFill>
                  <a:srgbClr val="355C7D"/>
                </a:solidFill>
                <a:latin typeface="Calibri"/>
              </a:rPr>
              <a:t>GENERATIVE AI ·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3"/>
                </a:solidFill>
                <a:latin typeface="Calibri"/>
              </a:rPr>
              <a:t>Operational Gains vs Revenue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28575">
            <a:solidFill>
              <a:srgbClr val="35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830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8C949E"/>
                </a:solidFill>
                <a:latin typeface="Calibri"/>
              </a:rPr>
              <a:t>% of organizations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148840"/>
          <a:ext cx="10607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Organizational impact metrics for productivity and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949E"/>
                </a:solidFill>
                <a:latin typeface="Calibri"/>
              </a:rPr>
              <a:t>Source: amplifai.com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C949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spc="150">
                <a:solidFill>
                  <a:srgbClr val="355C7D"/>
                </a:solidFill>
                <a:latin typeface="Calibri"/>
              </a:rPr>
              <a:t>GENERATIVE AI ·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3"/>
                </a:solidFill>
                <a:latin typeface="Calibri"/>
              </a:rPr>
              <a:t>High Impact Industries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28575">
            <a:solidFill>
              <a:srgbClr val="35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96596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Banking, high tech, and life sciences see the biggest impact.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Reshaping industries from automating tasks to product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949E"/>
                </a:solidFill>
                <a:latin typeface="Calibri"/>
              </a:rPr>
              <a:t>Source: charterglobal.com, mckinsey.com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C949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spc="150">
                <a:solidFill>
                  <a:srgbClr val="355C7D"/>
                </a:solidFill>
                <a:latin typeface="Calibri"/>
              </a:rPr>
              <a:t>GENERATIVE AI ·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3"/>
                </a:solidFill>
                <a:latin typeface="Calibri"/>
              </a:rPr>
              <a:t>Global Investment Context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28575">
            <a:solidFill>
              <a:srgbClr val="35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830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8C949E"/>
                </a:solidFill>
                <a:latin typeface="Calibri"/>
              </a:rPr>
              <a:t>Billion USD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148840"/>
          <a:ext cx="10607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Compares GenAI spending to broader AI investment figures.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949E"/>
                </a:solidFill>
                <a:latin typeface="Calibri"/>
              </a:rPr>
              <a:t>Source: axis-intelligence.com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C949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spc="150">
                <a:solidFill>
                  <a:srgbClr val="355C7D"/>
                </a:solidFill>
                <a:latin typeface="Calibri"/>
              </a:rPr>
              <a:t>GENERATIVE AI ·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3"/>
                </a:solidFill>
                <a:latin typeface="Calibri"/>
              </a:rPr>
              <a:t>Embedding AI Workflows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28575">
            <a:solidFill>
              <a:srgbClr val="35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96596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Delivers value when embedded into core workflows, not standalone tools.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Treat as infrastructure for sustained benefits and scaling, not a one-off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949E"/>
                </a:solidFill>
                <a:latin typeface="Calibri"/>
              </a:rPr>
              <a:t>Source: appinventiv.com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C949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spc="150">
                <a:solidFill>
                  <a:srgbClr val="355C7D"/>
                </a:solidFill>
                <a:latin typeface="Calibri"/>
              </a:rPr>
              <a:t>GENERATIVE AI ·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3"/>
                </a:solidFill>
                <a:latin typeface="Calibri"/>
              </a:rPr>
              <a:t>AI Agents in the Workplace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822960" cy="0"/>
          </a:xfrm>
          <a:prstGeom prst="line">
            <a:avLst/>
          </a:prstGeom>
          <a:ln w="28575">
            <a:solidFill>
              <a:srgbClr val="35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96596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Agents interpret objectives, gather data, and draft reports directly.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3F4652"/>
                </a:solidFill>
                <a:latin typeface="Calibri"/>
              </a:rPr>
              <a:t>•  Reduces decision friction and improves consistency across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949E"/>
                </a:solidFill>
                <a:latin typeface="Calibri"/>
              </a:rPr>
              <a:t>Source: appinventiv.com, bcg.com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C949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91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spc="200">
                <a:solidFill>
                  <a:srgbClr val="355C7D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6324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1F2733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4248" y="3977639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3F4652"/>
                </a:solidFill>
                <a:latin typeface="Calibri"/>
              </a:rPr>
              <a:t>How generative AI is transforming business and the workplace.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